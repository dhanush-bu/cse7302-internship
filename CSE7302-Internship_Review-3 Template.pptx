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8" r:id="rId2"/>
    <p:sldId id="261" r:id="rId3"/>
    <p:sldId id="262" r:id="rId4"/>
    <p:sldId id="263" r:id="rId5"/>
    <p:sldId id="264" r:id="rId6"/>
    <p:sldId id="265" r:id="rId7"/>
    <p:sldId id="279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dirty="0"/>
            <a:t>Domain learning and setup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US" dirty="0"/>
            <a:t>API integration and finance logic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CF116B92-F1A6-4FBD-AF67-CDA4CE6DFC53}">
      <dgm:prSet/>
      <dgm:spPr/>
      <dgm:t>
        <a:bodyPr/>
        <a:lstStyle/>
        <a:p>
          <a:pPr>
            <a:buNone/>
          </a:pPr>
          <a:r>
            <a:rPr lang="en-IN"/>
            <a:t>FD dashboard UI development</a:t>
          </a:r>
        </a:p>
      </dgm:t>
    </dgm:pt>
    <dgm:pt modelId="{FC24A539-F8A0-4A88-9A04-E93A8EEC3C71}" type="parTrans" cxnId="{177DBC2C-CBD3-4C62-B8B3-6D50923D7EBE}">
      <dgm:prSet/>
      <dgm:spPr/>
      <dgm:t>
        <a:bodyPr/>
        <a:lstStyle/>
        <a:p>
          <a:endParaRPr lang="en-IN"/>
        </a:p>
      </dgm:t>
    </dgm:pt>
    <dgm:pt modelId="{ED5148B3-16B7-439B-8F89-0A1BC47F1F19}" type="sibTrans" cxnId="{177DBC2C-CBD3-4C62-B8B3-6D50923D7EBE}">
      <dgm:prSet/>
      <dgm:spPr/>
      <dgm:t>
        <a:bodyPr/>
        <a:lstStyle/>
        <a:p>
          <a:endParaRPr lang="en-IN"/>
        </a:p>
      </dgm:t>
    </dgm:pt>
    <dgm:pt modelId="{97043442-F174-4269-BD64-C105A3D78509}">
      <dgm:prSet phldrT="[Text]"/>
      <dgm:spPr/>
      <dgm:t>
        <a:bodyPr/>
        <a:lstStyle/>
        <a:p>
          <a:pPr>
            <a:buNone/>
          </a:pPr>
          <a:r>
            <a:rPr lang="en-IN" dirty="0"/>
            <a:t>Testing and </a:t>
          </a:r>
        </a:p>
        <a:p>
          <a:pPr>
            <a:buNone/>
          </a:pPr>
          <a:r>
            <a:rPr lang="en-IN" dirty="0"/>
            <a:t>optimization</a:t>
          </a:r>
        </a:p>
      </dgm:t>
    </dgm:pt>
    <dgm:pt modelId="{94D7E2C4-59FF-4850-BEAD-42B1970E4581}" type="parTrans" cxnId="{0ADE0D00-4F54-4101-ABC9-774CBF73AD81}">
      <dgm:prSet/>
      <dgm:spPr/>
      <dgm:t>
        <a:bodyPr/>
        <a:lstStyle/>
        <a:p>
          <a:endParaRPr lang="en-IN"/>
        </a:p>
      </dgm:t>
    </dgm:pt>
    <dgm:pt modelId="{B8C9BFD5-9FF5-4649-82D8-6BB354CBAFE9}" type="sibTrans" cxnId="{0ADE0D00-4F54-4101-ABC9-774CBF73AD81}">
      <dgm:prSet/>
      <dgm:spPr/>
      <dgm:t>
        <a:bodyPr/>
        <a:lstStyle/>
        <a:p>
          <a:endParaRPr lang="en-IN"/>
        </a:p>
      </dgm:t>
    </dgm:pt>
    <dgm:pt modelId="{89023200-980E-402F-9CBD-CCCF51797AB0}">
      <dgm:prSet/>
      <dgm:spPr/>
      <dgm:t>
        <a:bodyPr/>
        <a:lstStyle/>
        <a:p>
          <a:pPr>
            <a:buNone/>
          </a:pPr>
          <a:r>
            <a:rPr lang="en-IN" dirty="0"/>
            <a:t>Complete system deployment</a:t>
          </a:r>
        </a:p>
      </dgm:t>
    </dgm:pt>
    <dgm:pt modelId="{09864EB0-CDB6-40CB-936B-79D5A1A46946}" type="parTrans" cxnId="{B45A0B18-8624-424A-8BB3-822E594681B4}">
      <dgm:prSet/>
      <dgm:spPr/>
      <dgm:t>
        <a:bodyPr/>
        <a:lstStyle/>
        <a:p>
          <a:endParaRPr lang="en-IN"/>
        </a:p>
      </dgm:t>
    </dgm:pt>
    <dgm:pt modelId="{009A799A-6FC4-4067-A4C3-31BAA22C61AC}" type="sibTrans" cxnId="{B45A0B18-8624-424A-8BB3-822E594681B4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5228E1BD-D253-413B-9F29-88078A72C864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F95FF872-90E0-4A22-8131-F214E242B04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0E904E1-E66B-4FB7-92D1-19ADBB17B150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80D601C0-3110-4594-A8B9-52A28F59567F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E7E1CEC1-4E7B-4C0F-BFA6-07BC46CEEF6C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A3435D9-657E-42BB-9B25-72FD8CCF5E35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B8139022-1033-4B1D-9A1F-3F3202A40DA4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D12FFA3E-71F4-406D-AD6F-B2544DA481B8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44F2D10-31DC-4760-951E-D75BDFE21CFC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0ADE0D00-4F54-4101-ABC9-774CBF73AD81}" srcId="{5E92505A-51E0-4F78-B3C5-704ACF8710DE}" destId="{97043442-F174-4269-BD64-C105A3D78509}" srcOrd="0" destOrd="0" parTransId="{94D7E2C4-59FF-4850-BEAD-42B1970E4581}" sibTransId="{B8C9BFD5-9FF5-4649-82D8-6BB354CBAFE9}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B45A0B18-8624-424A-8BB3-822E594681B4}" srcId="{65C051F6-A849-4495-A964-CD4C650B9C06}" destId="{89023200-980E-402F-9CBD-CCCF51797AB0}" srcOrd="0" destOrd="0" parTransId="{09864EB0-CDB6-40CB-936B-79D5A1A46946}" sibTransId="{009A799A-6FC4-4067-A4C3-31BAA22C61AC}"/>
    <dgm:cxn modelId="{177DBC2C-CBD3-4C62-B8B3-6D50923D7EBE}" srcId="{7B3055AA-BF7C-46D0-9A9E-60087B9F57B4}" destId="{CF116B92-F1A6-4FBD-AF67-CDA4CE6DFC53}" srcOrd="0" destOrd="0" parTransId="{FC24A539-F8A0-4A88-9A04-E93A8EEC3C71}" sibTransId="{ED5148B3-16B7-439B-8F89-0A1BC47F1F19}"/>
    <dgm:cxn modelId="{82C8745C-7262-4540-B8B1-7CB51E495438}" type="presOf" srcId="{D471E45F-B026-44AA-9616-57E786AE80AF}" destId="{1C91D7E3-8940-4A33-9182-677DD5415901}" srcOrd="0" destOrd="0" presId="urn:microsoft.com/office/officeart/2011/layout/InterconnectedBlockProcess"/>
    <dgm:cxn modelId="{AE96AC5E-6C76-4FD5-A4E4-61D86C3BBAC3}" type="presOf" srcId="{D471E45F-B026-44AA-9616-57E786AE80AF}" destId="{A134CDD1-D85F-44EF-8BEE-9F99A855C1E6}" srcOrd="1" destOrd="0" presId="urn:microsoft.com/office/officeart/2011/layout/InterconnectedBlockProcess"/>
    <dgm:cxn modelId="{3B19D15E-0F3E-4043-9932-B3B43042ADFA}" type="presOf" srcId="{7B3055AA-BF7C-46D0-9A9E-60087B9F57B4}" destId="{00BB3360-A9BB-4051-A4B1-1216F82F642C}" srcOrd="0" destOrd="0" presId="urn:microsoft.com/office/officeart/2011/layout/InterconnectedBlockProcess"/>
    <dgm:cxn modelId="{D29EF25F-9048-41F3-94B5-2C0184FCBC4F}" type="presOf" srcId="{89023200-980E-402F-9CBD-CCCF51797AB0}" destId="{F95FF872-90E0-4A22-8131-F214E242B049}" srcOrd="0" destOrd="0" presId="urn:microsoft.com/office/officeart/2011/layout/InterconnectedBlockProcess"/>
    <dgm:cxn modelId="{12D18262-AF90-4722-B6D5-5984BF469191}" type="presOf" srcId="{65C051F6-A849-4495-A964-CD4C650B9C06}" destId="{A0E904E1-E66B-4FB7-92D1-19ADBB17B150}" srcOrd="0" destOrd="0" presId="urn:microsoft.com/office/officeart/2011/layout/InterconnectedBlockProcess"/>
    <dgm:cxn modelId="{7ECABA64-534A-4A95-BD29-335BA14CD6E6}" type="presOf" srcId="{988D96B0-D16E-4763-B393-84178CF4FF50}" destId="{65257024-FAC0-4522-B139-1CC85B547BE8}" srcOrd="0" destOrd="0" presId="urn:microsoft.com/office/officeart/2011/layout/InterconnectedBlockProcess"/>
    <dgm:cxn modelId="{E4D99066-F36A-4205-9505-78DA1F600222}" type="presOf" srcId="{A59EC69B-8F3F-425B-819F-E8C557946AEE}" destId="{944F2D10-31DC-4760-951E-D75BDFE21CFC}" srcOrd="0" destOrd="0" presId="urn:microsoft.com/office/officeart/2011/layout/InterconnectedBlockProcess"/>
    <dgm:cxn modelId="{BE843873-5FE3-44F8-AEA9-95BBAA684CD0}" type="presOf" srcId="{CF116B92-F1A6-4FBD-AF67-CDA4CE6DFC53}" destId="{06F8D57B-EDF4-4CF4-8700-DC2CA3E3028E}" srcOrd="1" destOrd="0" presId="urn:microsoft.com/office/officeart/2011/layout/InterconnectedBlockProcess"/>
    <dgm:cxn modelId="{BEA00477-ED4F-40C2-85FE-68836583B355}" type="presOf" srcId="{97043442-F174-4269-BD64-C105A3D78509}" destId="{FC0F1314-3294-4A8C-8DCE-EB53E236164C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9C432BB3-E9B2-459F-94D1-B1906DBEF5BC}" type="presOf" srcId="{89023200-980E-402F-9CBD-CCCF51797AB0}" destId="{8CAE5A4D-0C7B-48A6-917B-0B8433D0574B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E50391C5-B38E-4327-B58A-F58D855BFF4C}" type="presOf" srcId="{73DB572E-062D-41AD-8033-D361B8E583DB}" destId="{2532504F-5FE1-4C97-B485-F05E8885EACC}" srcOrd="1" destOrd="0" presId="urn:microsoft.com/office/officeart/2011/layout/InterconnectedBlockProcess"/>
    <dgm:cxn modelId="{1CE0E9CA-87F7-4131-AF3A-6423799F5AA5}" type="presOf" srcId="{73DB572E-062D-41AD-8033-D361B8E583DB}" destId="{D12FFA3E-71F4-406D-AD6F-B2544DA481B8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E0B96E0-729A-4568-A7AC-96D0FAF50B6E}" type="presOf" srcId="{CF116B92-F1A6-4FBD-AF67-CDA4CE6DFC53}" destId="{6BCCFBA6-7A43-4631-AD7F-AFB10E1E6CD7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5BF998F1-375A-4E5C-9171-6D6FA62AD176}" type="presOf" srcId="{97043442-F174-4269-BD64-C105A3D78509}" destId="{E7E1CEC1-4E7B-4C0F-BFA6-07BC46CEEF6C}" srcOrd="0" destOrd="0" presId="urn:microsoft.com/office/officeart/2011/layout/InterconnectedBlockProcess"/>
    <dgm:cxn modelId="{48E27EF6-80EF-435D-B304-2CAE6CC196C7}" type="presOf" srcId="{5E92505A-51E0-4F78-B3C5-704ACF8710DE}" destId="{0A3435D9-657E-42BB-9B25-72FD8CCF5E35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4E784AF1-D675-4983-AE64-4991178D4F6E}" type="presParOf" srcId="{A6BCDA7B-D633-438F-B44D-CB4D60E5C492}" destId="{5228E1BD-D253-413B-9F29-88078A72C864}" srcOrd="0" destOrd="0" presId="urn:microsoft.com/office/officeart/2011/layout/InterconnectedBlockProcess"/>
    <dgm:cxn modelId="{7187154C-14F7-4019-9A7F-6CC6DD5BFA15}" type="presParOf" srcId="{5228E1BD-D253-413B-9F29-88078A72C864}" destId="{8CAE5A4D-0C7B-48A6-917B-0B8433D0574B}" srcOrd="0" destOrd="0" presId="urn:microsoft.com/office/officeart/2011/layout/InterconnectedBlockProcess"/>
    <dgm:cxn modelId="{C98E058D-12C4-461D-8769-70BD26ADF43B}" type="presParOf" srcId="{A6BCDA7B-D633-438F-B44D-CB4D60E5C492}" destId="{F95FF872-90E0-4A22-8131-F214E242B049}" srcOrd="1" destOrd="0" presId="urn:microsoft.com/office/officeart/2011/layout/InterconnectedBlockProcess"/>
    <dgm:cxn modelId="{238F0055-CA41-41F6-AD7A-41971203A7E9}" type="presParOf" srcId="{A6BCDA7B-D633-438F-B44D-CB4D60E5C492}" destId="{A0E904E1-E66B-4FB7-92D1-19ADBB17B150}" srcOrd="2" destOrd="0" presId="urn:microsoft.com/office/officeart/2011/layout/InterconnectedBlockProcess"/>
    <dgm:cxn modelId="{E4E0C3C2-0FE1-4EEC-AEC4-C596662644E7}" type="presParOf" srcId="{A6BCDA7B-D633-438F-B44D-CB4D60E5C492}" destId="{80D601C0-3110-4594-A8B9-52A28F59567F}" srcOrd="3" destOrd="0" presId="urn:microsoft.com/office/officeart/2011/layout/InterconnectedBlockProcess"/>
    <dgm:cxn modelId="{572754B0-51AD-4152-8D11-DEACE44495FE}" type="presParOf" srcId="{80D601C0-3110-4594-A8B9-52A28F59567F}" destId="{FC0F1314-3294-4A8C-8DCE-EB53E236164C}" srcOrd="0" destOrd="0" presId="urn:microsoft.com/office/officeart/2011/layout/InterconnectedBlockProcess"/>
    <dgm:cxn modelId="{383AA8E0-F811-4EAE-BED1-BA44D5F39C2A}" type="presParOf" srcId="{A6BCDA7B-D633-438F-B44D-CB4D60E5C492}" destId="{E7E1CEC1-4E7B-4C0F-BFA6-07BC46CEEF6C}" srcOrd="4" destOrd="0" presId="urn:microsoft.com/office/officeart/2011/layout/InterconnectedBlockProcess"/>
    <dgm:cxn modelId="{DBF61037-5E09-4B4B-9E90-863F1E703DE1}" type="presParOf" srcId="{A6BCDA7B-D633-438F-B44D-CB4D60E5C492}" destId="{0A3435D9-657E-42BB-9B25-72FD8CCF5E35}" srcOrd="5" destOrd="0" presId="urn:microsoft.com/office/officeart/2011/layout/InterconnectedBlockProcess"/>
    <dgm:cxn modelId="{CDC9BF95-F95A-4DFA-A9D3-964979DCBCE2}" type="presParOf" srcId="{A6BCDA7B-D633-438F-B44D-CB4D60E5C492}" destId="{B8139022-1033-4B1D-9A1F-3F3202A40DA4}" srcOrd="6" destOrd="0" presId="urn:microsoft.com/office/officeart/2011/layout/InterconnectedBlockProcess"/>
    <dgm:cxn modelId="{1529F1DF-E530-400E-A50A-F437141BFE85}" type="presParOf" srcId="{B8139022-1033-4B1D-9A1F-3F3202A40DA4}" destId="{2532504F-5FE1-4C97-B485-F05E8885EACC}" srcOrd="0" destOrd="0" presId="urn:microsoft.com/office/officeart/2011/layout/InterconnectedBlockProcess"/>
    <dgm:cxn modelId="{38A18792-61E4-4F87-AAE2-41A8BB509C3F}" type="presParOf" srcId="{A6BCDA7B-D633-438F-B44D-CB4D60E5C492}" destId="{D12FFA3E-71F4-406D-AD6F-B2544DA481B8}" srcOrd="7" destOrd="0" presId="urn:microsoft.com/office/officeart/2011/layout/InterconnectedBlockProcess"/>
    <dgm:cxn modelId="{A8CFD20C-37BB-47B4-A59A-A8E732E7C9CD}" type="presParOf" srcId="{A6BCDA7B-D633-438F-B44D-CB4D60E5C492}" destId="{944F2D10-31DC-4760-951E-D75BDFE21CFC}" srcOrd="8" destOrd="0" presId="urn:microsoft.com/office/officeart/2011/layout/InterconnectedBlockProcess"/>
    <dgm:cxn modelId="{6506EC35-51AA-4BBD-941E-17D25479CAD4}" type="presParOf" srcId="{A6BCDA7B-D633-438F-B44D-CB4D60E5C492}" destId="{C1269CE6-C767-48CC-AAFD-A238D1FFDABA}" srcOrd="9" destOrd="0" presId="urn:microsoft.com/office/officeart/2011/layout/InterconnectedBlockProcess"/>
    <dgm:cxn modelId="{32E2900A-9BFB-4741-99A2-196DC009885A}" type="presParOf" srcId="{C1269CE6-C767-48CC-AAFD-A238D1FFDABA}" destId="{06F8D57B-EDF4-4CF4-8700-DC2CA3E3028E}" srcOrd="0" destOrd="0" presId="urn:microsoft.com/office/officeart/2011/layout/InterconnectedBlockProcess"/>
    <dgm:cxn modelId="{0DAAAB28-61FA-4D9B-9038-C1F31BB033ED}" type="presParOf" srcId="{A6BCDA7B-D633-438F-B44D-CB4D60E5C492}" destId="{6BCCFBA6-7A43-4631-AD7F-AFB10E1E6CD7}" srcOrd="10" destOrd="0" presId="urn:microsoft.com/office/officeart/2011/layout/InterconnectedBlockProcess"/>
    <dgm:cxn modelId="{B88E4BDE-95DE-4FD7-9666-B7C5E136382D}" type="presParOf" srcId="{A6BCDA7B-D633-438F-B44D-CB4D60E5C492}" destId="{00BB3360-A9BB-4051-A4B1-1216F82F642C}" srcOrd="11" destOrd="0" presId="urn:microsoft.com/office/officeart/2011/layout/InterconnectedBlockProcess"/>
    <dgm:cxn modelId="{EB22DCCF-EB6E-4D6D-BA62-4F90A7EDD521}" type="presParOf" srcId="{A6BCDA7B-D633-438F-B44D-CB4D60E5C492}" destId="{7305DF14-0FF5-45E4-8B19-015814092DBD}" srcOrd="12" destOrd="0" presId="urn:microsoft.com/office/officeart/2011/layout/InterconnectedBlockProcess"/>
    <dgm:cxn modelId="{08DCF35B-536E-4C1B-8AA8-F19D1442C6DA}" type="presParOf" srcId="{7305DF14-0FF5-45E4-8B19-015814092DBD}" destId="{A134CDD1-D85F-44EF-8BEE-9F99A855C1E6}" srcOrd="0" destOrd="0" presId="urn:microsoft.com/office/officeart/2011/layout/InterconnectedBlockProcess"/>
    <dgm:cxn modelId="{D8A35EB4-8246-4951-AC6E-8CA88A85D5DA}" type="presParOf" srcId="{A6BCDA7B-D633-438F-B44D-CB4D60E5C492}" destId="{1C91D7E3-8940-4A33-9182-677DD5415901}" srcOrd="13" destOrd="0" presId="urn:microsoft.com/office/officeart/2011/layout/InterconnectedBlockProcess"/>
    <dgm:cxn modelId="{D3C786D8-05C5-4D4D-8AED-732020836AA2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Complete system deployment</a:t>
          </a:r>
        </a:p>
      </dsp:txBody>
      <dsp:txXfrm>
        <a:off x="7335949" y="811639"/>
        <a:ext cx="1116055" cy="3246556"/>
      </dsp:txXfrm>
    </dsp:sp>
    <dsp:sp modelId="{A0E904E1-E66B-4FB7-92D1-19ADBB17B150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Testing and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optimization</a:t>
          </a:r>
        </a:p>
      </dsp:txBody>
      <dsp:txXfrm>
        <a:off x="6060823" y="811639"/>
        <a:ext cx="1116055" cy="3043646"/>
      </dsp:txXfrm>
    </dsp:sp>
    <dsp:sp modelId="{0A3435D9-657E-42BB-9B25-72FD8CCF5E35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          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API integration and finance logic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944F2D10-31DC-4760-951E-D75BDFE21CFC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FD dashboard UI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Domain learning and setup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07/03/2026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07-03-2026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eycontrol.com/" TargetMode="External"/><Relationship Id="rId2" Type="http://schemas.openxmlformats.org/officeDocument/2006/relationships/hyperlink" Target="https://www.sbi.co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icibank.com/" TargetMode="External"/><Relationship Id="rId5" Type="http://schemas.openxmlformats.org/officeDocument/2006/relationships/hyperlink" Target="https://www.investopedia.com/" TargetMode="External"/><Relationship Id="rId4" Type="http://schemas.openxmlformats.org/officeDocument/2006/relationships/hyperlink" Target="https://www.paytm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rodha.com/" TargetMode="External"/><Relationship Id="rId2" Type="http://schemas.openxmlformats.org/officeDocument/2006/relationships/hyperlink" Target="https://www.etmoney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bi.org.in/" TargetMode="External"/><Relationship Id="rId5" Type="http://schemas.openxmlformats.org/officeDocument/2006/relationships/hyperlink" Target="https://www.groww.in/" TargetMode="External"/><Relationship Id="rId4" Type="http://schemas.openxmlformats.org/officeDocument/2006/relationships/hyperlink" Target="https://www.hdfcbank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7"/>
            <a:ext cx="5514300" cy="19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Dr.Megala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G</a:t>
            </a: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dirty="0" err="1"/>
              <a:t>B.Tech</a:t>
            </a:r>
            <a:r>
              <a:rPr lang="en-US" sz="2000" dirty="0"/>
              <a:t> – Computer Science &amp; Engineering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Blessed Prince P</a:t>
            </a:r>
            <a:endParaRPr lang="en-US" sz="2400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Sanjesh</a:t>
            </a:r>
            <a:endParaRPr lang="en-US" sz="2000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Real-Time Fixed Deposit Viewer Platform (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FinTechora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DHANUSH GOWDA B 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74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BNP Paribas is a global banking organization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Paris, France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multiple countries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banking and financial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Development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TypeScript frontend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 backend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in development team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Fixed Deposit module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and dashboard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code review and feedback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project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finance calculations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state across components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real-time updates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FD tracking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invested and maturity value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money growth in real-time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full stack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B498-C714-B711-3808-B1D38491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3389-6FA1-9891-1D02-BC83C1DF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3819-7142-C4BB-BB78-413D44F4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39B5E9-D93A-5880-57DF-F1CBA176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688108"/>
              </p:ext>
            </p:extLst>
          </p:nvPr>
        </p:nvGraphicFramePr>
        <p:xfrm>
          <a:off x="313275" y="955766"/>
          <a:ext cx="11405975" cy="462393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76695">
                  <a:extLst>
                    <a:ext uri="{9D8B030D-6E8A-4147-A177-3AD203B41FA5}">
                      <a16:colId xmlns:a16="http://schemas.microsoft.com/office/drawing/2014/main" val="2535813334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162242317"/>
                    </a:ext>
                  </a:extLst>
                </a:gridCol>
                <a:gridCol w="4064640">
                  <a:extLst>
                    <a:ext uri="{9D8B030D-6E8A-4147-A177-3AD203B41FA5}">
                      <a16:colId xmlns:a16="http://schemas.microsoft.com/office/drawing/2014/main" val="2279817816"/>
                    </a:ext>
                  </a:extLst>
                </a:gridCol>
              </a:tblGrid>
              <a:tr h="68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Study / Concept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Source URL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Limitation Observed → Implemented in Our System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06713083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FD management systems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2"/>
                        </a:rPr>
                        <a:t>https://www.sbi.co.in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Shows deposit details but no unified dashboard. Our system provides one dashboard to track all FDs and growth.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920419930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Analyzed portfolio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https://www.moneycontrol.com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stocks and mutual funds. Our system includes dedicated Fixed Deposit portfolio tracking.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11593828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payment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4"/>
                        </a:rPr>
                        <a:t>https://www.paytm.com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Displays FD info but limited maturity growth visualization. Our system shows invested vs maturity value clearly.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9185700"/>
                  </a:ext>
                </a:extLst>
              </a:tr>
              <a:tr h="890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Observed investment growth models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5"/>
                        </a:rPr>
                        <a:t>https://www.investopedia.com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Explains growth formulas but not integrated with user dashboards. Our system calculates and shows growth automatically.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310598537"/>
                  </a:ext>
                </a:extLst>
              </a:tr>
              <a:tr h="63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banking FD services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https://www.icicibank.com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FD details are available but tracking multiple deposits is difficult. Our system lists all deposits in one 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205795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22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B21438-85E0-78CA-423B-36221C354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074759"/>
              </p:ext>
            </p:extLst>
          </p:nvPr>
        </p:nvGraphicFramePr>
        <p:xfrm>
          <a:off x="213049" y="1097836"/>
          <a:ext cx="11804779" cy="4481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1263">
                  <a:extLst>
                    <a:ext uri="{9D8B030D-6E8A-4147-A177-3AD203B41FA5}">
                      <a16:colId xmlns:a16="http://schemas.microsoft.com/office/drawing/2014/main" val="423970291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2598096843"/>
                    </a:ext>
                  </a:extLst>
                </a:gridCol>
                <a:gridCol w="4206758">
                  <a:extLst>
                    <a:ext uri="{9D8B030D-6E8A-4147-A177-3AD203B41FA5}">
                      <a16:colId xmlns:a16="http://schemas.microsoft.com/office/drawing/2014/main" val="903671621"/>
                    </a:ext>
                  </a:extLst>
                </a:gridCol>
              </a:tblGrid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Reviewed financial tracking apps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2"/>
                        </a:rPr>
                        <a:t>https://www.etmoney.com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Tracks investments but FD insights are limited. Our platform provides FD-specific tracking and insights.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3716256038"/>
                  </a:ext>
                </a:extLst>
              </a:tr>
              <a:tr h="74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wealth management dashboards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3"/>
                        </a:rPr>
                        <a:t>https://www.zerodha.com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Focus mainly on stock portfolios. Our system focuses on fixed deposit portfolio monitoring.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426250690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Studied digital banking platforms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4"/>
                        </a:rPr>
                        <a:t>https://www.hdfcbank.com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Users must navigate multiple pages to see FD information. Our system provides simple dashboard overview.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583025447"/>
                  </a:ext>
                </a:extLst>
              </a:tr>
              <a:tr h="774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fintech investment tools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hlinkClick r:id="rId5"/>
                        </a:rPr>
                        <a:t>https://www.groww.in</a:t>
                      </a:r>
                      <a:endParaRPr lang="en-IN" sz="1400" dirty="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Mainly stock and mutual fund tracking. Our system supports fixed deposit monitoring and projections.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526124670"/>
                  </a:ext>
                </a:extLst>
              </a:tr>
              <a:tr h="109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Studied financial education resources</a:t>
                      </a:r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hlinkClick r:id="rId6"/>
                        </a:rPr>
                        <a:t>https://www.rbi.org.in</a:t>
                      </a:r>
                      <a:endParaRPr lang="en-IN" sz="1400"/>
                    </a:p>
                  </a:txBody>
                  <a:tcPr marL="33216" marR="33216" marT="16608" marB="166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Provides information on FD schemes but no real-time tracking tools. Our system implements live tracking dashboard for deposits.</a:t>
                      </a:r>
                    </a:p>
                  </a:txBody>
                  <a:tcPr marL="33216" marR="33216" marT="16608" marB="16608" anchor="ctr"/>
                </a:tc>
                <a:extLst>
                  <a:ext uri="{0D108BD9-81ED-4DB2-BD59-A6C34878D82A}">
                    <a16:rowId xmlns:a16="http://schemas.microsoft.com/office/drawing/2014/main" val="1042938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FD tracking platform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and dashboard access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total invested amount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active deposits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FD tracking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monitor growth easily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real-time portfolio overview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simple and clear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(Frontend)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 build tool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FD tracking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investment summary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Maturity value projection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D30DA-A4F9-E398-7D57-661AE8FA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0" r="29768"/>
          <a:stretch>
            <a:fillRect/>
          </a:stretch>
        </p:blipFill>
        <p:spPr>
          <a:xfrm>
            <a:off x="4556448" y="225161"/>
            <a:ext cx="3486539" cy="564126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UI developed using React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Deposit listing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summary calculation added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logic for maturity value completed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service integration implemented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insight feature integrated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handling added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53643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https://github.com/dhanushbu2004/CSE7302-Internship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7043</TotalTime>
  <Words>723</Words>
  <Application>Microsoft Office PowerPoint</Application>
  <PresentationFormat>Widescreen</PresentationFormat>
  <Paragraphs>146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UMESH B K</cp:lastModifiedBy>
  <cp:revision>726</cp:revision>
  <dcterms:created xsi:type="dcterms:W3CDTF">2022-10-14T07:18:17Z</dcterms:created>
  <dcterms:modified xsi:type="dcterms:W3CDTF">2026-03-07T07:44:19Z</dcterms:modified>
</cp:coreProperties>
</file>